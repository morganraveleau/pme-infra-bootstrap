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16952" y="3657600"/>
            <a:ext cx="4572000" cy="3200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16952" y="3657600"/>
            <a:ext cx="4572000" cy="3200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0" y="256032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0" y="3063239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0" y="356616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0" y="406908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0" y="457200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06640" y="256032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06640" y="3063239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06640" y="356616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06640" y="406908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06640" y="457200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55279" y="256032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55279" y="3063239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55279" y="356616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55279" y="406908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955279" y="457200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03920" y="256032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3920" y="3063239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03920" y="356616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03920" y="406908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03920" y="457200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52560" y="256032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052560" y="3063239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52560" y="356616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52560" y="406908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052560" y="457200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0" y="256032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01200" y="3063239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601200" y="356616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601200" y="406908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601200" y="457200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49840" y="256032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49840" y="3063239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49840" y="356616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49840" y="406908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457200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98480" y="256032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698480" y="3063239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698480" y="356616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698480" y="406908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98480" y="457200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10972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E8EAF6"/>
                </a:solidFill>
                <a:latin typeface="Calibri"/>
              </a:rPr>
              <a:t>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Bootstrap
Infra PME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3657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892B0"/>
                </a:solidFill>
                <a:latin typeface="Calibri"/>
              </a:rPr>
              <a:t>Automatisation complète du déploiement
d'infrastructure pour PME sur Proxmox 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ECDC4"/>
                </a:solidFill>
                <a:latin typeface="Calibri"/>
              </a:rPr>
              <a:t>Terraform  ·  Packer  ·  Ansible  ·  k3s  ·  Active Directory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943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B0"/>
                </a:solidFill>
                <a:latin typeface="Calibri"/>
              </a:rPr>
              <a:t>Morgan Raveleau  —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Contexte &amp; 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2B0"/>
                </a:solidFill>
                <a:latin typeface="Calibri"/>
              </a:rPr>
              <a:t>Pourquoi automatiser l'infrastructure d'une PME 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394960" cy="50292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5C65"/>
                </a:solidFill>
                <a:latin typeface="Calibri"/>
              </a:rPr>
              <a:t>❌  Sans automatisation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5C65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Configuration manuelle des VMs (heures ou jours)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848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5C65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Erreurs humaines fréquentes et difficiles à tracer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3230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5C65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3230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Pas de reproductibilité — chaque serveur est unique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7977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5C65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77977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Active Directory configuré à la main, sans cohérence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272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5C65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2724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Monitoring absent ou partiel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747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5C65"/>
                </a:solidFill>
                <a:latin typeface="Calibr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4747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Mise à l'échelle complexe et risquée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221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5C65"/>
                </a:solidFill>
                <a:latin typeface="Calibri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Documentation obsolète dès la mise en prod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97280"/>
            <a:ext cx="5394960" cy="50292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D17A"/>
                </a:solidFill>
                <a:latin typeface="Calibri"/>
              </a:rPr>
              <a:t>✅  Avec Bootstrap Infra PME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737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D17A"/>
                </a:solidFill>
                <a:latin typeface="Calibri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7373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Infrastructure reproductible en &lt; 45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0848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D17A"/>
                </a:solidFill>
                <a:latin typeface="Calibri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0848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Un formulaire, une commande → tout est déployé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43230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D17A"/>
                </a:solidFill>
                <a:latin typeface="Calibri"/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43230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Configuration as Code (Git, versionnée, auditée)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77977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D17A"/>
                </a:solidFill>
                <a:latin typeface="Calibri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7977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AD + groupes + utilisateurs créés automatiquement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1272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D17A"/>
                </a:solidFill>
                <a:latin typeface="Calibri"/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12724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Monitoring Grafana/Prometheus inclus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4747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D17A"/>
                </a:solidFill>
                <a:latin typeface="Calibri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4747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Zéro intervention manuelle sur Proxmox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8221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D17A"/>
                </a:solidFill>
                <a:latin typeface="Calibri"/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82219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Documentation auto-générée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Solution : Bootstrap Infra PME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2B0"/>
                </a:solidFill>
                <a:latin typeface="Calibri"/>
              </a:rPr>
              <a:t>Une plateforme end-to-end : du formulaire à l'infrastructure opérationnelle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99516" y="1645920"/>
            <a:ext cx="1645920" cy="16459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9516" y="1645920"/>
            <a:ext cx="164592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" y="1737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8EAF6"/>
                </a:solidFill>
                <a:latin typeface="Calibri"/>
              </a:rPr>
              <a:t>🖥️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" y="2148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Formulaire
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2B0"/>
                </a:solidFill>
                <a:latin typeface="Calibri"/>
              </a:rPr>
              <a:t>Config via
navigateurr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5436" y="22860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C63FF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8316" y="1645920"/>
            <a:ext cx="1645920" cy="16459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28316" y="1645920"/>
            <a:ext cx="164592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8316" y="1737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8EAF6"/>
                </a:solidFill>
                <a:latin typeface="Calibri"/>
              </a:rPr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8316" y="2148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Génération
des configs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8316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2B0"/>
                </a:solidFill>
                <a:latin typeface="Calibri"/>
              </a:rPr>
              <a:t>tfvars, pkrvars,
all.yml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4236" y="22860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C63FF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57116" y="1645920"/>
            <a:ext cx="1645920" cy="16459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57116" y="1645920"/>
            <a:ext cx="164592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7116" y="1737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8EAF6"/>
                </a:solidFill>
                <a:latin typeface="Calibri"/>
              </a:rPr>
              <a:t>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7116" y="2148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Packer
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7116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2B0"/>
                </a:solidFill>
                <a:latin typeface="Calibri"/>
              </a:rPr>
              <a:t>Template
Windows 2022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3036" y="22860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C63FF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5916" y="1645920"/>
            <a:ext cx="1645920" cy="16459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5916" y="1645920"/>
            <a:ext cx="1645920" cy="457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85916" y="1737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8EAF6"/>
                </a:solidFill>
                <a:latin typeface="Calibri"/>
              </a:rPr>
              <a:t>🏗️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5916" y="2148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Terraform
Apply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5916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2B0"/>
                </a:solidFill>
                <a:latin typeface="Calibri"/>
              </a:rPr>
              <a:t>VMs Proxmox
provisionnées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1836" y="22860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C63FF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14716" y="1645920"/>
            <a:ext cx="1645920" cy="16459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4716" y="1645920"/>
            <a:ext cx="1645920" cy="457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1737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8EAF6"/>
                </a:solidFill>
                <a:latin typeface="Calibri"/>
              </a:rPr>
              <a:t>☸️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4716" y="2148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Ansible
Playbooks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4716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2B0"/>
                </a:solidFill>
                <a:latin typeface="Calibri"/>
              </a:rPr>
              <a:t>k3s + AD
configurés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60636" y="22860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C63FF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43516" y="1645920"/>
            <a:ext cx="1645920" cy="16459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43516" y="1645920"/>
            <a:ext cx="1645920" cy="45720"/>
          </a:xfrm>
          <a:prstGeom prst="rect">
            <a:avLst/>
          </a:prstGeom>
          <a:solidFill>
            <a:srgbClr val="43D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43516" y="1737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8EAF6"/>
                </a:solidFill>
                <a:latin typeface="Calibri"/>
              </a:rPr>
              <a:t>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43516" y="2148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Infrastructure
Opérationnelle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43516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2B0"/>
                </a:solidFill>
                <a:latin typeface="Calibri"/>
              </a:rPr>
              <a:t>Services up &amp;
monitored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" y="40233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6C63FF"/>
                </a:solidFill>
                <a:latin typeface="Calibri"/>
              </a:rPr>
              <a:t>&lt; 1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6" y="4526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B0"/>
                </a:solidFill>
                <a:latin typeface="Calibri"/>
              </a:rPr>
              <a:t>Lancement
déploiement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4156" y="40233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6C63FF"/>
                </a:solidFill>
                <a:latin typeface="Calibri"/>
              </a:rPr>
              <a:t>~45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34156" y="4526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B0"/>
                </a:solidFill>
                <a:latin typeface="Calibri"/>
              </a:rPr>
              <a:t>Durée totale
complète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4476" y="40233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6C63FF"/>
                </a:solidFill>
                <a:latin typeface="Calibri"/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4476" y="4526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B0"/>
                </a:solidFill>
                <a:latin typeface="Calibri"/>
              </a:rPr>
              <a:t>Interventions
manuelles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54796" y="40233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6C63FF"/>
                </a:solidFill>
                <a:latin typeface="Calibri"/>
              </a:rPr>
              <a:t>4 VMs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54796" y="4526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B0"/>
                </a:solidFill>
                <a:latin typeface="Calibri"/>
              </a:rPr>
              <a:t>Créées
automatiquement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Architecture Générale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2B0"/>
                </a:solidFill>
                <a:latin typeface="Calibri"/>
              </a:rPr>
              <a:t>Hyperviseur unique Proxmox VE — toutes les VMs déployées par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ECDC4"/>
                </a:solidFill>
                <a:latin typeface="Courier New"/>
              </a:rPr>
              <a:t>┌─────────────────────────────────────────────────────────────┐
│               Proxmox VE (192.168.1.10)                     │
│                                                             │
│  ┌─────────────────────┐   ┌──────────────────────────┐    │
│  │  VM: k3s-node1      │   │  VM: AD-DC1              │    │
│  │  (Debian 12)        │   │  (Windows Server 2022)   │    │
│  │                     │   │                          │    │
│  │  ┌───────────────┐  │   │  Active Directory DS      │    │
│  │  │  k3s master   │  │   │  DNS + DHCP              │    │
│  │  │  +Helm charts │  │   │  OUs / Groupes / Users   │    │
│  │  ├───────────────┤  │   └──────────────────────────┘    │
│  │  │  Nginx Ingress│  │                                    │
│  │  │  Webapp App   │  │   ┌──────────────────────────┐    │
│  │  │  PostgreSQL   │  │   │  Template Debian 12       │    │
│  │  │  Grafana      │  │   │  (cloud-init)  ID: 9000  │    │
│  │  │  Prometheus   │  │   ├──────────────────────────┤    │
│  │  └───────────────┘  │   │  Template Windows 2022   │    │
│  └─────────────────────┘   │  (cloudbase-init) ID:9001│    │
│                             └──────────────────────────┘    │
└─────────────────────────────────────────────────────────────┘
        ▲ API REST    ▲ SSH/WinRM    ▲ Proxmox ISO Store
        │             │              │
   Terraform      Ansible        Packer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Schéma Réseau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2B0"/>
                </a:solidFill>
                <a:latin typeface="Calibri"/>
              </a:rPr>
              <a:t>Réseau plat 192.168.1.0/24 — Proxmox bridge vmbr0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ECDC4"/>
                </a:solidFill>
                <a:latin typeface="Courier New"/>
              </a:rPr>
              <a:t>Internet
     │
  ┌──┴────────────────┐
  │   Routeur/Box     │  192.168.1.254  (passerelle)
  │   + DNS ext.      │
  └──┬────────────────┘
     │
  ═══╪═══════════════════════════════════════════  LAN  192.168.1.0/24
     │         │              │              │
┌────┴───┐ ┌───┴────────┐ ┌───┴──────┐  ┌───┴──────────┐
│Proxmox │ │ Machine    │ │ k3s VM   │  │ AD-DC1       │
│  VE    │ │ Admin      │ │          │  │              │
│.1.10   │ │(formulaire)│ │ .1.100   │  │ .1.20        │
│        │ │  .1.xx     │ │ Kube API │  │ DNS :53      │
│vmbr0   │ └────────────┘ │ :443     │  │ LDAP :389    │
│bridge  │                │ :80      │  │ WinRM :5986  │
└────────┘                └──────────┘  └──────────────┘
Services exposés (k3s Ingress):
  http(s)://webapp.{company}.local  →  Application métier
  http(s)://grafana.{company}.local →  Monitoring
  http(s)://prometheus.{company}.local → Métriques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Stack Technologique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2B0"/>
                </a:solidFill>
                <a:latin typeface="Calibri"/>
              </a:rPr>
              <a:t>Outils open-source éprouvés — zéro licence propriétaire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743200" cy="50292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  <a:latin typeface="Calibri"/>
              </a:rPr>
              <a:t>Virtualisation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91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Proxmox VE 8.x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933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Hyperviseur KVM/LXC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6517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bpg/proxmox 0.113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535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Provider Terraform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611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VirtIO drivers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9136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Paravirt réseau/disque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572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cloud-init / cloudbase-init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8737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Init VMs Linux/Windows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1188720"/>
            <a:ext cx="2743200" cy="50292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280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Calibri"/>
              </a:rPr>
              <a:t>IaC &amp; Provisioning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691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Terraform 1.9+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9933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Provisionnement VMs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6517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Packer 1.11+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9535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Build template Windows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611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Ansible 2.17+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9136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Configuration système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572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microsoft.ad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8737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Collection Active Directory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188720"/>
            <a:ext cx="2743200" cy="50292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280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D17A"/>
                </a:solidFill>
                <a:latin typeface="Calibri"/>
              </a:rPr>
              <a:t>Services applicatifs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1691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k3s (Kubernetes)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19933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Orchestration conteneurs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26517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Helm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29535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Package manager k8s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3611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Nginx Ingress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9136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Reverse proxy / TLS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4572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PostgreSQL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48737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Base de données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5532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Grafana + Prometheus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58338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Monitoring &amp; alertes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15400" y="1188720"/>
            <a:ext cx="2743200" cy="50292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98280" y="1280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B731"/>
                </a:solidFill>
                <a:latin typeface="Calibri"/>
              </a:rPr>
              <a:t>Démo &amp; Tooling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1691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Flask + SSE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19933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Interface web déploiement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26517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29535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Packaging lanceur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3611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Git / GitHub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39136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Versioning IaC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4572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WinRM HTTPS/NTLM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48737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Transport Ansible→Windows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Choix de 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2B0"/>
                </a:solidFill>
                <a:latin typeface="Calibri"/>
              </a:rPr>
              <a:t>Principe de moindre privilège — chiffrement en transit — secrets séparés du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669280" cy="14173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  <a:latin typeface="Calibri"/>
              </a:rPr>
              <a:t>🔐  Authentification Proxmox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▸  API Token (jamais mot de passe root)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8366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▸  Token avec rôle PVEAdmin minimal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14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▸  Secret stocké dans variables (jamais en clair dans le code)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5915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▸  Token révocable sans changer le mot de passe root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88720"/>
            <a:ext cx="5669280" cy="14173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Calibri"/>
              </a:rPr>
              <a:t>🔑  Clés SSH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▸  Clé ed25519 dédiée au projet (bootstrap-pme)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88366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▸  Injectée via TF_VAR_ssh_public_key — jamais commitée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214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▸  Clé privée non partagée entre les opérateurs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5915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▸  Accès SSH désactivé sur Windows (WinRM à la place)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743200"/>
            <a:ext cx="5669280" cy="14173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34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B731"/>
                </a:solidFill>
                <a:latin typeface="Calibri"/>
              </a:rPr>
              <a:t>🪟  WinRM Windows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004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▸  HTTPS uniquement (port 5986) — HTTP désactivé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3814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▸  Certificat auto-signé (PKI interne envisageable en V2)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758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▸  Transport NTLM (Kerberos possible après domaine joint)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136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▸  ansible_winrm_server_cert_validation: ignore → PKI en V2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743200"/>
            <a:ext cx="5669280" cy="14173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834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D17A"/>
                </a:solidFill>
                <a:latin typeface="Calibri"/>
              </a:rPr>
              <a:t>🌐  Réseau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2004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▸  Réseau plat LAN — pas d'exposition Internet directe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43814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▸  Firewall Proxmox activable par VM (groupe pve-firewall)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6758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▸  Ingress k3s avec TLS (cert-manager + Let's Encrypt en V2)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9136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▸  VLANs séparation Serveurs/Utilisateurs planifiée V2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Structure Active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2B0"/>
                </a:solidFill>
                <a:latin typeface="Calibri"/>
              </a:rPr>
              <a:t>Domaine auto-configuré — OUs, groupes et comptes créés par Ansible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943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ECDC4"/>
                </a:solidFill>
                <a:latin typeface="Courier New"/>
              </a:rPr>
              <a:t>DC=acme,DC=lab
│
├── OU=ACME
│   ├── OU=Utilisateurs
│   │   ├── jean.dupont          (Mot de passe expire)
│   │   └── marie.martin         (Mot de passe expire)
│   │
│   ├── OU=Ordinateurs-Postes
│   │   └── (postes joints au domaine)
│   │
│   ├── OU=Serveurs
│   │   └── (serveurs membres)
│   │
│   └── OU=Groupes
│       ├── GRP-Admins-SI        → admin.si (pwdNeverExpires)
│       ├── GRP-Utilisateurs     → jean.dupont, marie.martin
│       ├── GRP-Direction        → marie.martin
│       └── GRP-Informatique     → jean.dupont, admin.si
│
└── CN=Users (comptes système par défaut)
    └── Administrator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188720"/>
            <a:ext cx="5120640" cy="5120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280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  <a:latin typeface="Calibri"/>
              </a:rPr>
              <a:t>Paramètres Active Directory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2B0"/>
                </a:solidFill>
                <a:latin typeface="Calibri"/>
              </a:rPr>
              <a:t>Domaine AD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691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configurable (ex: acme.lab)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3969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2B0"/>
                </a:solidFill>
                <a:latin typeface="Calibri"/>
              </a:rPr>
              <a:t>Nom NetBIOS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1396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dérivé du nom de domaine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5877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2B0"/>
                </a:solidFill>
                <a:latin typeface="Calibri"/>
              </a:rPr>
              <a:t>Mode forêt/domaine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5877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WinThreshold (Windows 2016+)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0358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2B0"/>
                </a:solidFill>
                <a:latin typeface="Calibri"/>
              </a:rPr>
              <a:t>DNS intégré AD 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0358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oui — résolution interne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4838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2B0"/>
                </a:solidFill>
                <a:latin typeface="Calibri"/>
              </a:rPr>
              <a:t>DSRM password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4838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configurable dans le formulaire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931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2B0"/>
                </a:solidFill>
                <a:latin typeface="Calibri"/>
              </a:rPr>
              <a:t>Compte admin SI 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931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admin.si — pwd jamais expiré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37997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2B0"/>
                </a:solidFill>
                <a:latin typeface="Calibri"/>
              </a:rPr>
              <a:t>Reboot automatique 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3799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2 redémarrages (install + promu)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8280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2B0"/>
                </a:solidFill>
                <a:latin typeface="Calibri"/>
              </a:rPr>
              <a:t>Détection idempotente 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48280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Get-ADDomain avant promotion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2760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2B0"/>
                </a:solidFill>
                <a:latin typeface="Calibri"/>
              </a:rPr>
              <a:t>Collection Ansible 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52760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microsoft.ad (Red Hat)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572414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2B0"/>
                </a:solidFill>
                <a:latin typeface="Calibri"/>
              </a:rPr>
              <a:t>Transport 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57241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WinRM HTTPS port 5986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k3s &amp; Services Applicatifs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2B0"/>
                </a:solidFill>
                <a:latin typeface="Calibri"/>
              </a:rPr>
              <a:t>Kubernetes léger sur Debian 12 — stack métier + monitoring inclus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657600" cy="5120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  <a:latin typeface="Calibri"/>
              </a:rPr>
              <a:t>🏗️  k3s (Kubernetes)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Single-node master (évolutif)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025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Installation via script officiel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134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134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kubeconfig → ~/.kube/config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243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243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Helm 3 pour tous les déploiements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3522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93522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Local-path-provisioner (stockage)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461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Calibr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246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Nginx Ingress 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5701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Calibri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55701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cert-manager (TLS auto en V2)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6791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Calibr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8679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MetalLB (LoadBalancer LAN)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1188720"/>
            <a:ext cx="3657600" cy="23774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1280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Calibri"/>
              </a:rPr>
              <a:t>💼  Application métier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1691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Calibri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1691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Image Docker personnalisée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00253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Calibri"/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20025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PostgreSQL 16 (Helm bitnami)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3134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Calibri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23134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Nginx reverse proxy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26243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Calibri"/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26243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Domaine : webapp.{company}.local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293522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Calibri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293522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Secrets k8s pour passwords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3794760"/>
            <a:ext cx="3657600" cy="25146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3886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D17A"/>
                </a:solidFill>
                <a:latin typeface="Calibri"/>
              </a:rPr>
              <a:t>📊  Monitoring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42976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Calibri"/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297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kube-prometheus-stack (Helm)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60857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Calibri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46085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Grafana (dashboard métier)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49194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Calibri"/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49194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Prometheus (rétention 15 jours)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52303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Calibri"/>
              </a:rP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52303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Alertmanager (mail/webhook V2)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554126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Calibri"/>
              </a:rPr>
              <a:t>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554126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AF6"/>
                </a:solidFill>
                <a:latin typeface="Calibri"/>
              </a:rPr>
              <a:t>Accès : grafana.{company}.local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38160" y="1188720"/>
            <a:ext cx="3566160" cy="5120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B731"/>
                </a:solidFill>
                <a:latin typeface="Calibri"/>
              </a:rPr>
              <a:t>🌐  Exposition réseau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169164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ourier New"/>
              </a:rPr>
              <a:t>Port 80   HTTP  → Nginx Ingress
Port 443  HTTPS → Nginx Ingress
Port 6443 Kube API (LAN only)
Ingress rules :
  /   → webapp
  /grafana → monitoring
  /prometheus → métriques
Pas d'exposition Internet
par défaut — tout en LAN
VIP MetalLB : 192.168.1.150
(configurable dans le formulaire)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Options d'Infrastructure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2B0"/>
                </a:solidFill>
                <a:latin typeface="Calibri"/>
              </a:rPr>
              <a:t>Tout est paramétrable via le formulaire — aucune valeur en dur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88720"/>
            <a:ext cx="2834640" cy="5120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  <a:latin typeface="Calibri"/>
              </a:rPr>
              <a:t>Compute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k3s vCPU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019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2 à 8 vCores (défaut: 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k3s 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334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4 à 32 Go (défaut: 8 Go)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08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k3s Disque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649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40 à 200 Go (défaut: 60 Go)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40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AD vCPU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0965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2 à 4 vCores (défaut: 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AD 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8280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2 à 8 Go (défaut: 4 Go)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303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AD Disque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595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40 à 80 Go (défaut: 50 Go)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4680" y="1188720"/>
            <a:ext cx="2834640" cy="5120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Calibri"/>
              </a:rPr>
              <a:t>Réseau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1645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Bridge Proxmox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19019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vmbr0 (défaut)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377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IP k3s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26334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Configurable (ex: .100)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108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IP AD-DC1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3649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Configurable (ex: .20)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840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Passerelle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40965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192.168.1.254 (défaut)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Datastore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8280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local-lvm (défaut)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5303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Nœud Proxmox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55595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pve (configurable)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1188720"/>
            <a:ext cx="2834640" cy="5120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D17A"/>
                </a:solidFill>
                <a:latin typeface="Calibri"/>
              </a:rPr>
              <a:t>Services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1645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Nom société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19019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Préfixe pour VMs et 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377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Domaine 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26334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acme.lab (défaut)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108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Domaine webapp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3649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webapp.acme.local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840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Password Windows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0965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Admin local Windows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Password 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8280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PostgreSQL admin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303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Password Grafana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5595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Interface monitoring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06840" y="1188720"/>
            <a:ext cx="2834640" cy="5120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8972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B731"/>
                </a:solidFill>
                <a:latin typeface="Calibri"/>
              </a:rPr>
              <a:t>Template Windows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1645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ISO source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19019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Windows Server 2022 Eval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2377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Téléchargement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26334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Automatique via Proxmox API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3108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Build Packer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33649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Skip si vm_id 9001 existe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3840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VirtIO drivers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40965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Injectés après install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cloudbase-init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48280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Cloud-init Windows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5303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Sysprep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0" y="55595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B0"/>
                </a:solidFill>
                <a:latin typeface="Calibri"/>
              </a:rPr>
              <a:t>Généralisation avant template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Pipeline de Déploiement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2B0"/>
                </a:solidFill>
                <a:latin typeface="Calibri"/>
              </a:rPr>
              <a:t>Séquence automatisée orchestrée par deploy.sh et packer-build.sh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457200" cy="7707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457200" cy="770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188720"/>
            <a:ext cx="10881360" cy="77070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2161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Génération des configs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207008"/>
            <a:ext cx="6858000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  <a:latin typeface="Courier New"/>
              </a:rPr>
              <a:t>terraform.tfvars.json
ansible/group_vars/all.yml
packer/windows-server-2022.pkrvars.hcl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86860"/>
            <a:ext cx="457200" cy="7707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986860"/>
            <a:ext cx="457200" cy="770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986860"/>
            <a:ext cx="10881360" cy="77070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01429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Clé SSH projet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005148"/>
            <a:ext cx="6858000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  <a:latin typeface="Courier New"/>
              </a:rPr>
              <a:t>ssh-keygen ed25519 bootstrap-pme
Injectée via TF_VAR_ssh_public_key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785000"/>
            <a:ext cx="457200" cy="7707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785000"/>
            <a:ext cx="457200" cy="770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785000"/>
            <a:ext cx="10881360" cy="77070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81243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Ansible Galaxy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803288"/>
            <a:ext cx="6858000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  <a:latin typeface="Courier New"/>
              </a:rPr>
              <a:t>ansible-galaxy collection install
kubernetes.core, ansible.windows
microsoft.ad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583140"/>
            <a:ext cx="457200" cy="7707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583140"/>
            <a:ext cx="457200" cy="770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583140"/>
            <a:ext cx="10881360" cy="77070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6105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Packer Build (si nécessaire)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601428"/>
            <a:ext cx="6858000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  <a:latin typeface="Courier New"/>
              </a:rPr>
              <a:t>Vérif API Proxmox → vm_id 9001
Si absent : packer build Windows 2022
Durée ~30 min (ISO ~5.4 Go)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81280"/>
            <a:ext cx="457200" cy="77070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381280"/>
            <a:ext cx="457200" cy="770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381280"/>
            <a:ext cx="10881360" cy="77070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40871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Terraform Init + 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399568"/>
            <a:ext cx="6858000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  <a:latin typeface="Courier New"/>
              </a:rPr>
              <a:t>Download provider bpg/proxmox
Clone template Debian (VM k3s)
Clone template Windows (VM AD)
Attend SSH/WinRM disponibles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179420"/>
            <a:ext cx="457200" cy="77070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179420"/>
            <a:ext cx="457200" cy="770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179420"/>
            <a:ext cx="10881360" cy="77070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2068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Ansible Playbooks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197708"/>
            <a:ext cx="6858000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  <a:latin typeface="Courier New"/>
              </a:rPr>
              <a:t>site.yml → k3s_setup.yml
          → ad_domain_controller
Install k3s + Helm + apps
Promotion DC + OUs + users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77560"/>
            <a:ext cx="457200" cy="770708"/>
          </a:xfrm>
          <a:prstGeom prst="rect">
            <a:avLst/>
          </a:prstGeom>
          <a:solidFill>
            <a:srgbClr val="43D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5977560"/>
            <a:ext cx="457200" cy="770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977560"/>
            <a:ext cx="10881360" cy="77070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600499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Vérification finale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5995848"/>
            <a:ext cx="6858000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  <a:latin typeface="Courier New"/>
              </a:rPr>
              <a:t>API Proxmox : statut VMs
kubectl get pods -A
Get-ADDomain (WinRM)
Dashboard VM dans webapp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Déroulement de la Démo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2B0"/>
                </a:solidFill>
                <a:latin typeface="Calibri"/>
              </a:rPr>
              <a:t>5 étapes — de Proxmox vide à infrastructure complète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6576" cy="1078992"/>
          </a:xfrm>
          <a:prstGeom prst="rect">
            <a:avLst/>
          </a:prstGeom>
          <a:solidFill>
            <a:srgbClr val="889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🖥️ 1. Proxmox vide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143000"/>
            <a:ext cx="777240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AF6"/>
                </a:solidFill>
                <a:latin typeface="Calibri"/>
              </a:rPr>
              <a:t>Montrer l'interface Proxmox
Aucune VM existante
Aucun service démarré
Prouve le point de départ zéro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76272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B0"/>
                </a:solidFill>
                <a:latin typeface="Calibri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40280"/>
            <a:ext cx="36576" cy="107899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📥 2. Clone du dépôt 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286000"/>
            <a:ext cx="777240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AF6"/>
                </a:solidFill>
                <a:latin typeface="Calibri"/>
              </a:rPr>
              <a:t>git clone https://github.com/.../pme-infra-bootstrap
Sur une machine Windows ou Linux
Du même réseau que Proxmox
Prérequis : Docker installé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19272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B0"/>
                </a:solidFill>
                <a:latin typeface="Calibr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383280"/>
            <a:ext cx="36576" cy="107899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429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🚀 3. Lancement formulaire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429000"/>
            <a:ext cx="777240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AF6"/>
                </a:solidFill>
                <a:latin typeface="Calibri"/>
              </a:rPr>
              <a:t>Windows : double-clic start.bat
Linux/Mac : ./start.sh
Ouvre http://localhost:5000
Formulaire 4 étapes de config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462272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B0"/>
                </a:solidFill>
                <a:latin typeface="Calibri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526280"/>
            <a:ext cx="36576" cy="1078992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⏳ 4. Déploiement temps réel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572000"/>
            <a:ext cx="777240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AF6"/>
                </a:solidFill>
                <a:latin typeface="Calibri"/>
              </a:rPr>
              <a:t>Validation formulaire → démarrage
Timeline des étapes en direct
Terminal de logs SSE
Durée ~45 min (ou &lt; 5 min si template existe)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605272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B0"/>
                </a:solidFill>
                <a:latin typeface="Calibri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669280"/>
            <a:ext cx="36576" cy="1078992"/>
          </a:xfrm>
          <a:prstGeom prst="rect">
            <a:avLst/>
          </a:prstGeom>
          <a:solidFill>
            <a:srgbClr val="43D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715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✅ 5. Résultat : infra opérationnelle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715000"/>
            <a:ext cx="777240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AF6"/>
                </a:solidFill>
                <a:latin typeface="Calibri"/>
              </a:rPr>
              <a:t>Proxmox → 4 VMs créées et actives
Grafana : dashboard métier
AD : utilisateurs et OUs créés
Webapp accessible dans le LAN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Backlog &amp; Évolutions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2B0"/>
                </a:solidFill>
                <a:latin typeface="Calibri"/>
              </a:rPr>
              <a:t>Ce qui est livré vs ce qui est prévu — roadmap claire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486400" cy="52120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D17A"/>
                </a:solidFill>
                <a:latin typeface="Calibri"/>
              </a:rPr>
              <a:t>✅  Livré (V1)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3D17A"/>
                </a:solidFill>
                <a:latin typeface="Calibri"/>
              </a:rPr>
              <a:t>✓  Formulaire web dark-theme 4 étapes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385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3D17A"/>
                </a:solidFill>
                <a:latin typeface="Calibri"/>
              </a:rPr>
              <a:t>✓  Déploiement SSE temps réel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768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3D17A"/>
                </a:solidFill>
                <a:latin typeface="Calibri"/>
              </a:rPr>
              <a:t>✓  Template Windows via Packer auto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151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3D17A"/>
                </a:solidFill>
                <a:latin typeface="Calibri"/>
              </a:rPr>
              <a:t>✓  Terraform : VMs k3s + AD (bpg/proxmox)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535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3D17A"/>
                </a:solidFill>
                <a:latin typeface="Calibri"/>
              </a:rPr>
              <a:t>✓  Ansible k3s : install + Helm + apps +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3D17A"/>
                </a:solidFill>
                <a:latin typeface="Calibri"/>
              </a:rPr>
              <a:t>✓  Ansible AD : domaine + OUs + groupes + utilisateurs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301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3D17A"/>
                </a:solidFill>
                <a:latin typeface="Calibri"/>
              </a:rPr>
              <a:t>✓  Docker packaging (start.bat / start.sh)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684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3D17A"/>
                </a:solidFill>
                <a:latin typeface="Calibri"/>
              </a:rPr>
              <a:t>✓  Dashboard statut VMs post-déploiement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068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3D17A"/>
                </a:solidFill>
                <a:latin typeface="Calibri"/>
              </a:rPr>
              <a:t>✓  README complet (685 lignes)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451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3D17A"/>
                </a:solidFill>
                <a:latin typeface="Calibri"/>
              </a:rPr>
              <a:t>✓  Clé SSH dédiée au projet auto-générée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83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3D17A"/>
                </a:solidFill>
                <a:latin typeface="Calibri"/>
              </a:rPr>
              <a:t>✓  Détection idempotente du template Packer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218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3D17A"/>
                </a:solidFill>
                <a:latin typeface="Calibri"/>
              </a:rPr>
              <a:t>✓  Auto-download ISO Windows via Proxmox 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097280"/>
            <a:ext cx="5486400" cy="52120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  <a:latin typeface="Calibri"/>
              </a:rPr>
              <a:t>🔮  Planifié (V2)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600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C63FF"/>
                </a:solidFill>
                <a:latin typeface="Calibri"/>
              </a:rPr>
              <a:t>▶  Sécurité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8928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    · PKI interne (CA maison) pour TLS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1762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    · Vault HashiCorp pour secrets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4597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    · VLANs Serveurs / Utilisateurs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    · MFA sur Grafana et webapp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1363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C63FF"/>
                </a:solidFill>
                <a:latin typeface="Calibri"/>
              </a:rPr>
              <a:t>▶  Infra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429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    · Multi-nœuds k3s (HA)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7124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    · Backup automatique Proxmox (PBS)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9959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    · Réplication VM cross-nœud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2793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    · GPU passthrough pour 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6725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C63FF"/>
                </a:solidFill>
                <a:latin typeface="Calibri"/>
              </a:rPr>
              <a:t>▶  Ops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9651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    · CI/CD GitHub Actions (lint, test, deploy)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2486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    · Alertmanager → mail / Teams / Slack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532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    · LDAP sync Grafana avec 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8155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    · Auto-update OS (unattended-upgrades)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75504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E8EAF6"/>
                </a:solidFill>
                <a:latin typeface="Calibri"/>
              </a:rPr>
              <a:t>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Questions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92B0"/>
                </a:solidFill>
                <a:latin typeface="Calibri"/>
              </a:rPr>
              <a:t>Discussion ouverte — retours bienvenus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ECDC4"/>
                </a:solidFill>
                <a:latin typeface="Calibri"/>
              </a:rPr>
              <a:t>📧  morgan.raveleau01@gmail.com    |    🐙  github.com/morganraveleau/pme-infra-bootstrap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92B0"/>
                </a:solidFill>
                <a:latin typeface="Calibri"/>
              </a:rPr>
              <a:t>Bootstrap Infra PME — Automatisation Infrastructure PME sur Proxmox 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B0"/>
                </a:solidFill>
                <a:latin typeface="Calibri"/>
              </a:rPr>
              <a:t>Terraform · Packer · Ansible · k3s · Active Directory · Docker · Flask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